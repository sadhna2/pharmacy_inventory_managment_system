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4" r:id="rId25"/>
    <p:sldId id="275" r:id="rId26"/>
    <p:sldId id="276" r:id="rId27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72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3272B"/>
                </a:solidFill>
                <a:latin typeface="Calibri"/>
              </a:rPr>
              <a:t>Perfect invoices by scan quality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Perfect invoices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7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scan_light</c:v>
                  </c:pt>
                  <c:pt idx="1">
                    <c:v>scan_heavy</c:v>
                  </c:pt>
                  <c:pt idx="2">
                    <c:v>clean</c:v>
                  </c:pt>
                  <c:pt idx="3">
                    <c:v>photo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84.6</c:v>
                </c:pt>
                <c:pt idx="2">
                  <c:v>83.3</c:v>
                </c:pt>
                <c:pt idx="3">
                  <c:v>83.3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327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73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12700" cap="flat">
              <a:solidFill>
                <a:srgbClr val="DCE6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3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deployed site, already signed in as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fourth one shapes the whole AI decision. Hold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there is time, run DELETE FROM stock_movements live in psql. It is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 This is the slide the whole talk turns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slowly. Everything after this is a consequence of this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venue network is unreliable, set INTAKE_FIXTURE_DIR=fixtures/intake beforehand. Only the transcription is replayed; the checks still run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the 88% is what makes the 99.8% believable. Reproduce with: python bench/ocr/score.py --predictions bench/ocr/out/pred/intake-v5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Calling Holt-Winters 'AI forecasting' is the easy version and a worse one. A reader who catches the exaggeration stops believing the part that genuinely is a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to demo it: turn a capability off in Settings and its API 404s.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limitations is more convincing than being asked about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wording is not a control. 'Ignore previous instructions' works often enough that relying on it would be negligence. A jailbreak buys the ability to propose a DROP — which is then refused unread.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text-to-SQL feature does not fail loudly. It returns a table, and a table looks like an answer. Only ground truth written by hand told these four apart from the forty-three that were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failure mode nobody thinks about. An empty result is indistinguishable from a true zero, so the honest move is to decline before running anything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Pharmacy Inventory</a:t>
            </a:r>
            <a:endParaRPr lang="en-US" sz="52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43434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Multi-branch stock, tracked by batch and expiry — with AI that is never trusted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5   ·   10 days   ·   FastAPI + React + PostgreSQL on AWS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Ordinary stock software gets pharmacy wrong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64792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64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53312" y="172821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is not fungible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53312" y="205740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boxes of the same medicine differ by batch, expiry and printed MRP. Picking the wrong one can put expired medicine in a patient's hands.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43784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43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53312" y="28072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must survive being wrong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53312" y="313639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recall does not ask “how much do we have”. It asks where every unit went, and who touched it.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922776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22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53312" y="388620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enters at receiving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53312" y="421538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batch code and expiry is typed off a paper invoice in a carton. Slow, and where the errors come from.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001768"/>
            <a:ext cx="475488" cy="475488"/>
          </a:xfrm>
          <a:prstGeom prst="ellipse">
            <a:avLst/>
          </a:prstGeom>
          <a:solidFill>
            <a:srgbClr val="C7770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53312" y="49651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trusts a black box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53312" y="529437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is genuinely useful here — but an AI that can silently alter regulated stock is a liability.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 underneath everything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881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is never stored as a number.</a:t>
            </a:r>
            <a:endParaRPr lang="en-US" sz="38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derived by summing an append-only ledger.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443484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4416552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stock_movements is insert-only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001768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4983480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by a database trigger, not by convention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5568696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5568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5550408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correction is a reversing entry — the original row survives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that rule pays for itself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permanent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779008" y="18288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8288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tracing is a query, not a feature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944368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9443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are derived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779008" y="2944368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309360" y="2944368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94436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balance is reproducible from history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05993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059936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 are entries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779008" y="4059936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309360" y="4059936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4059936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“Who changed this, and when” always answers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stock_balances exists only for speed — a test rebuilds it from the ledger and asserts they agree.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question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148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A8C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mandate was to use AI.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question was how to use it on regulated stock data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making the system less trustworthy.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737360"/>
            <a:ext cx="10881360" cy="3108960"/>
          </a:xfrm>
          <a:prstGeom prst="roundRect">
            <a:avLst>
              <a:gd name="adj" fmla="val 1765"/>
            </a:avLst>
          </a:prstGeom>
          <a:solidFill>
            <a:srgbClr val="10484D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88720" y="2057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88720" y="260604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is never allowed to produce an answer.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may only produce structured input to code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already validates.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works: invoices are over-determined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supplier invoice carries more information than it needs. Each of these checks itself: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514600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3108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× rate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41985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equal the line amount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24028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514600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108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341985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sum to the subtotal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224028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0" y="2514600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66760" y="3108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GSTIN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66760" y="341985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15th character is a mod-36 checksum over the other 14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34340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EAF6F5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5262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of it needs an answer key.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05840" y="498348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misreading fails arithmetic the document carries within itself — caught structurally, not by somebody noticing.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hard limits on the model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25856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58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45920" y="211226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endpoint creates nothing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47802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path from intake to the ledger. The worst case for a total misread is a form with wrong numbers in it.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67588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45920" y="352958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obey the same rules a human lookup obeys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89534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mg can never land on 250 mg, however confident the model was.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709160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509320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50932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45920" y="494690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graded by blast radius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531266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only where a finding could put wrong stock on a shelf. Everything else is REVIEW.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scanning a real invoice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810512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 → Scan an invoice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42032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42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25237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of a distributor invoice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255264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3236976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lines fill in: batches, expiries, quantities, rates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C777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68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39502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77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flag: GSTIN checksum does not match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81728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81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4663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it, submit — now stock exists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863840" y="1783080"/>
            <a:ext cx="3657600" cy="3200400"/>
          </a:xfrm>
          <a:prstGeom prst="roundRect">
            <a:avLst>
              <a:gd name="adj" fmla="val 1714"/>
            </a:avLst>
          </a:prstGeom>
          <a:solidFill>
            <a:srgbClr val="FDF6E9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20116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7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38160" y="242316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caught its own model being wrong — using arithmetic printed on the paper.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external told it. The document checks its own transcription.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up to step 5 has created nothing — no stock, no document, no ledger row.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Accuracy, measured honestly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generated invoices — varying layout, font, columns, tax presentation, expiry format, scan quality. Ground truth written first and the document rendered from it, so the answer key cannot itself be wrong.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3,539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scored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4612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99.8%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4612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accuracy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5216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85216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/ invented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5820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77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44/50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45820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perfect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40080" y="3886200"/>
          <a:ext cx="59436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6858000" y="3886200"/>
            <a:ext cx="4663440" cy="2286000"/>
          </a:xfrm>
          <a:prstGeom prst="roundRect">
            <a:avLst>
              <a:gd name="adj" fmla="val 24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0" y="4069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harsher number out loud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132320" y="443484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Per-field accuracy flatters document tasks — one bad character in a 71-field invoice still reads as 98.6%.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imperfect invoices fail on a field the validator checks. batch_no and quantity — where an error puts wrong stock on a shelf — are at 100%.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learns what each distributor calls things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printed name is mapped to our catalogue and remembered per supplier.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231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delivery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761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lines need a human to resolve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224028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400" y="2423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delivery after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29400" y="27614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exactly, with no help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554480" y="3931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/ 73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554480" y="4709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resolved across six demo invoices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3931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77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675120" y="4709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 — all correct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55321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refusals are ambiguous pack sizes, offered as a shortlist rather than guessed. Refusing beats a confident wrong batch.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TO 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rule, on a harder surface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881360" cy="960120"/>
          </a:xfrm>
          <a:prstGeom prst="roundRect">
            <a:avLst>
              <a:gd name="adj" fmla="val 5882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3957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45920" y="2258568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 refuses anything that is not one SELECT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statement, no writing CTE, no function that can mutate — rejected before Postgres ever sees it.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881360" cy="960120"/>
          </a:xfrm>
          <a:prstGeom prst="roundRect">
            <a:avLst>
              <a:gd name="adj" fmla="val 5882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44728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4472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45920" y="3310128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plans it before it runs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657600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goes first. A query that will not plan never executes.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251960"/>
            <a:ext cx="10881360" cy="960120"/>
          </a:xfrm>
          <a:prstGeom prst="roundRect">
            <a:avLst>
              <a:gd name="adj" fmla="val 5882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49884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498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45920" y="4361688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 · 10-second timeout · 200-row cap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4709160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transaction cannot write even if the guard were wrong about the string.</a:t>
            </a:r>
            <a:endParaRPr lang="en-US" sz="1350" dirty="0"/>
          </a:p>
        </p:txBody>
      </p:sp>
      <p:sp>
        <p:nvSpPr>
          <p:cNvPr id="19" name="Text lead"/>
          <p:cNvSpPr/>
          <p:nvPr/>
        </p:nvSpPr>
        <p:spPr>
          <a:xfrm>
            <a:off x="640080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typed in English. The model's output is now a string that runs against the production database.</a:t>
            </a:r>
            <a:endParaRPr lang="en-US" sz="1500" dirty="0"/>
          </a:p>
        </p:txBody>
      </p:sp>
      <p:sp>
        <p:nvSpPr>
          <p:cNvPr id="20" name="Shape 12 d4"/>
          <p:cNvSpPr/>
          <p:nvPr/>
        </p:nvSpPr>
        <p:spPr>
          <a:xfrm>
            <a:off x="640080" y="5303520"/>
            <a:ext cx="10881360" cy="960120"/>
          </a:xfrm>
          <a:prstGeom prst="roundRect">
            <a:avLst>
              <a:gd name="adj" fmla="val 5882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21" name="Shape 13 d4"/>
          <p:cNvSpPr/>
          <p:nvPr/>
        </p:nvSpPr>
        <p:spPr>
          <a:xfrm>
            <a:off x="932688" y="555040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2" name="Text 14 d4"/>
          <p:cNvSpPr/>
          <p:nvPr/>
        </p:nvSpPr>
        <p:spPr>
          <a:xfrm>
            <a:off x="932688" y="5550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15 d4"/>
          <p:cNvSpPr/>
          <p:nvPr/>
        </p:nvSpPr>
        <p:spPr>
          <a:xfrm>
            <a:off x="1645920" y="5413248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account is scoped exactly as the ORM scopes it</a:t>
            </a:r>
            <a:endParaRPr lang="en-US" sz="1700" dirty="0"/>
          </a:p>
        </p:txBody>
      </p:sp>
      <p:sp>
        <p:nvSpPr>
          <p:cNvPr id="24" name="Text 16 d4"/>
          <p:cNvSpPr/>
          <p:nvPr/>
        </p:nvSpPr>
        <p:spPr>
          <a:xfrm>
            <a:off x="1645920" y="5760720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warehouse list every other endpoint uses, injected into the query.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Ask, measured honestly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267712"/>
            <a:ext cx="402336" cy="402336"/>
          </a:xfrm>
          <a:prstGeom prst="ellipse">
            <a:avLst/>
          </a:prstGeom>
          <a:solidFill>
            <a:srgbClr val="C777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22199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owes us money?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61872" y="2532888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said ₹72,610. There is no payments table — that number was orders, not debt.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402336" cy="402336"/>
          </a:xfrm>
          <a:prstGeom prst="ellipse">
            <a:avLst/>
          </a:prstGeom>
          <a:solidFill>
            <a:srgbClr val="C777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61872" y="310896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sellers by revenue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1872" y="341985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returned cost of goods. No selling price is recorded anywhere in the ledger.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41648"/>
            <a:ext cx="402336" cy="402336"/>
          </a:xfrm>
          <a:prstGeom prst="ellipse">
            <a:avLst/>
          </a:prstGeom>
          <a:solidFill>
            <a:srgbClr val="C7770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041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61872" y="3995928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lots were recalled?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61872" y="4306824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said none. There were two — the one answer a recall must never get wrong.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402336" cy="402336"/>
          </a:xfrm>
          <a:prstGeom prst="ellipse">
            <a:avLst/>
          </a:prstGeom>
          <a:solidFill>
            <a:srgbClr val="C7770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928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61872" y="4882896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our stock worth, per branch?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61872" y="519379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said ₹96 lakh. The basis the rest of the product uses gives ₹72 lakh.</a:t>
            </a:r>
            <a:endParaRPr lang="en-US" sz="1300" dirty="0"/>
          </a:p>
        </p:txBody>
      </p:sp>
      <p:sp>
        <p:nvSpPr>
          <p:cNvPr id="24" name="Text lead"/>
          <p:cNvSpPr/>
          <p:nvPr/>
        </p:nvSpPr>
        <p:spPr>
          <a:xfrm>
            <a:off x="640080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Fifty questions, each checked against SQL written by hand. Nothing crashed — seven answers were wrong.</a:t>
            </a:r>
            <a:endParaRPr lang="en-US" sz="1500" dirty="0"/>
          </a:p>
        </p:txBody>
      </p:sp>
      <p:sp>
        <p:nvSpPr>
          <p:cNvPr id="25" name="Text footer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seven are fixed and re-verified. The fix was never to the model — it was to what the model is told about this business.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Ask says when it cannot answer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forecasting tables are always empty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779008" y="18288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8288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on request, never stored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944368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9443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query against them is valid SQL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779008" y="2944368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309360" y="2944368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94436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returns zero rows, with no error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05993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059936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 rows” looks like an answer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779008" y="4059936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309360" y="4059936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4059936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“there is nothing to reorder”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Ask declines in a sentence — a reason, not an empty table. Refusing to guess is the system working, not failing.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Being honest about what is a model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capabilities are generative. Four are statistics. We label them that way in the product.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84831"/>
            <a:ext cx="10881360" cy="603504"/>
          </a:xfrm>
          <a:prstGeom prst="roundRect">
            <a:avLst>
              <a:gd name="adj" fmla="val 11111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176272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176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2084831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intake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486400" y="2084831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— vision + language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474720"/>
            <a:ext cx="10881360" cy="603504"/>
          </a:xfrm>
          <a:prstGeom prst="roundRect">
            <a:avLst>
              <a:gd name="adj" fmla="val 11111"/>
            </a:avLst>
          </a:prstGeom>
          <a:solidFill>
            <a:srgbClr val="FAFCFC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3566160"/>
            <a:ext cx="420624" cy="420624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3566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3474720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486400" y="3474720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Holt-Winters exponential smoothing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169664"/>
            <a:ext cx="10881360" cy="603504"/>
          </a:xfrm>
          <a:prstGeom prst="roundRect">
            <a:avLst>
              <a:gd name="adj" fmla="val 11111"/>
            </a:avLst>
          </a:prstGeom>
          <a:solidFill>
            <a:srgbClr val="FAFCFC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" y="4261104"/>
            <a:ext cx="420624" cy="420624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4261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4169664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detection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486400" y="4169664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on the ledger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864608"/>
            <a:ext cx="10881360" cy="603504"/>
          </a:xfrm>
          <a:prstGeom prst="roundRect">
            <a:avLst>
              <a:gd name="adj" fmla="val 11111"/>
            </a:avLst>
          </a:prstGeom>
          <a:solidFill>
            <a:srgbClr val="FAFCFC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" y="4956048"/>
            <a:ext cx="420624" cy="420624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4956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08760" y="4864608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Replenishment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5486400" y="4864608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point + safety stock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5559552"/>
            <a:ext cx="10881360" cy="603504"/>
          </a:xfrm>
          <a:prstGeom prst="roundRect">
            <a:avLst>
              <a:gd name="adj" fmla="val 11111"/>
            </a:avLst>
          </a:prstGeom>
          <a:solidFill>
            <a:srgbClr val="FAFCFC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6112" y="5650992"/>
            <a:ext cx="420624" cy="420624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27" name="Text 25"/>
          <p:cNvSpPr/>
          <p:nvPr/>
        </p:nvSpPr>
        <p:spPr>
          <a:xfrm>
            <a:off x="896112" y="5650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08760" y="555955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lead times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486400" y="5559552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percentiles</a:t>
            </a:r>
            <a:endParaRPr lang="en-US" sz="1400" dirty="0"/>
          </a:p>
        </p:txBody>
      </p:sp>
      <p:sp>
        <p:nvSpPr>
          <p:cNvPr id="30" name="Shape 3 ask"/>
          <p:cNvSpPr/>
          <p:nvPr/>
        </p:nvSpPr>
        <p:spPr>
          <a:xfrm>
            <a:off x="640080" y="2779776"/>
            <a:ext cx="10881360" cy="603504"/>
          </a:xfrm>
          <a:prstGeom prst="roundRect">
            <a:avLst>
              <a:gd name="adj" fmla="val 11111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31" name="Shape 4 ask"/>
          <p:cNvSpPr/>
          <p:nvPr/>
        </p:nvSpPr>
        <p:spPr>
          <a:xfrm>
            <a:off x="896112" y="2871216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2" name="Text 5 ask"/>
          <p:cNvSpPr/>
          <p:nvPr/>
        </p:nvSpPr>
        <p:spPr>
          <a:xfrm>
            <a:off x="896112" y="2871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33" name="Text 6 ask"/>
          <p:cNvSpPr/>
          <p:nvPr/>
        </p:nvSpPr>
        <p:spPr>
          <a:xfrm>
            <a:off x="1508760" y="2779776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question</a:t>
            </a:r>
            <a:endParaRPr lang="en-US" sz="1550" dirty="0"/>
          </a:p>
        </p:txBody>
      </p:sp>
      <p:sp>
        <p:nvSpPr>
          <p:cNvPr id="34" name="Text 7 ask"/>
          <p:cNvSpPr/>
          <p:nvPr/>
        </p:nvSpPr>
        <p:spPr>
          <a:xfrm>
            <a:off x="5486400" y="2779776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— one SELECT, checked before it runs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analysis layer is deletable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2011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it produces is recomputed on request and never written back.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A5C61"/>
          </a:solidFill>
          <a:ln w="25400">
            <a:solidFill>
              <a:srgbClr val="02C39A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1005840" y="3008376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Analysis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335584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· exceptions · lead times · replenishment · invoice intake · ask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90448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3484D"/>
          </a:solidFill>
          <a:ln w="12700">
            <a:solidFill>
              <a:srgbClr val="1E5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03250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Operations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4379976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orders · receipts · sales · transfers · adjustments · recalls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92861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0E3C41"/>
          </a:solidFill>
          <a:ln w="12700">
            <a:solidFill>
              <a:srgbClr val="1E5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50566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 — Foundation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540410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· batches · warehouses · the ledger · users · roles · audit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C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app/ai/ and you still have a working inventory system — the strongest available statement that the analysis cannot corrupt the records it reads.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that are actually enforced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178308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endpoint declares a permission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61872" y="209397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server-side, on every request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70048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670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61872" y="2624328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cannot see cost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1872" y="2935224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in the API or the interface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511296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511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61872" y="3465576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user naming another branch is refused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61872" y="377647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scoping is not a filter on the client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352544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3525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61872" y="43068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duties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61872" y="461772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≠ approver on orders, transfers, adjustments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193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61872" y="51480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switches close routes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61872" y="5458968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menu items — a stale tab gets a 404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2 views, 92 foreign keys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83280" y="17830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383280" y="25603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operations, OpenAPI documented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0" y="17830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53k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126480" y="25603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movements over 2 years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69680" y="17830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494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8869680" y="25603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on every push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576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8587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against reality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4224528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PostgreSQL and a real HTTP server, not mocks. The append-only trigger, the balance projection and row locking under concurrent allocation are properties of the database — they do not survive being mocked.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3657600"/>
            <a:ext cx="5212080" cy="1920240"/>
          </a:xfrm>
          <a:prstGeom prst="roundRect">
            <a:avLst>
              <a:gd name="adj" fmla="val 381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continuously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29400" y="4224528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builds arm64 images, pushes to GHCR, deploys to EC2 — every image tagged by commit SHA, so a rollback is “deploy the previous SHA”. Browser types are generated from the live OpenAPI document and CI fails if they drift.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 yourself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3529"/>
            </a:avLst>
          </a:prstGeom>
          <a:solidFill>
            <a:srgbClr val="0B3A3E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05740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pharmacy_inventory_managment_system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 &amp;&amp; docker compose up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is the only prerequisite.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macOS, Windows or Linux. No Python, no Node, no Postgres to install.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8463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http://localhost:8080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51937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admin@pharmacy.co.in  ·  ChangeMe@123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4709160"/>
            <a:ext cx="5212080" cy="1005840"/>
          </a:xfrm>
          <a:prstGeom prst="roundRect">
            <a:avLst>
              <a:gd name="adj" fmla="val 727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this from an empty directory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629400" y="517550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found four broken setup steps, which we fixed.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do next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841248"/>
          </a:xfrm>
          <a:prstGeom prst="roundRect">
            <a:avLst>
              <a:gd name="adj" fmla="val 7619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38528"/>
            <a:ext cx="438912" cy="438912"/>
          </a:xfrm>
          <a:prstGeom prst="ellipse">
            <a:avLst/>
          </a:prstGeom>
          <a:solidFill>
            <a:srgbClr val="C7770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385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1810512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an intermittent race in the e2e suite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157984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run in 10, a different set of tests each time. Root cause not yet found.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651760"/>
            <a:ext cx="10881360" cy="841248"/>
          </a:xfrm>
          <a:prstGeom prst="roundRect">
            <a:avLst>
              <a:gd name="adj" fmla="val 7619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00200" y="2724912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second model call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3072384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trade-name matching works fully offline, not just extraction.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566160"/>
            <a:ext cx="10881360" cy="841248"/>
          </a:xfrm>
          <a:prstGeom prst="roundRect">
            <a:avLst>
              <a:gd name="adj" fmla="val 7619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767328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7673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3639312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invoice pack column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86784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the remaining ambiguous matches.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480560"/>
            <a:ext cx="10881360" cy="841248"/>
          </a:xfrm>
          <a:prstGeom prst="roundRect">
            <a:avLst>
              <a:gd name="adj" fmla="val 7619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681728"/>
            <a:ext cx="438912" cy="438912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681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00200" y="4553712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golden questions in CI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00200" y="4901184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Thirty-six of them, so an Ask regression fails a build and not a demo.</a:t>
            </a:r>
            <a:endParaRPr lang="en-US" sz="1300" dirty="0"/>
          </a:p>
        </p:txBody>
      </p:sp>
      <p:sp>
        <p:nvSpPr>
          <p:cNvPr id="24" name="Shape 17 r5"/>
          <p:cNvSpPr/>
          <p:nvPr/>
        </p:nvSpPr>
        <p:spPr>
          <a:xfrm>
            <a:off x="640080" y="5394960"/>
            <a:ext cx="10881360" cy="841248"/>
          </a:xfrm>
          <a:prstGeom prst="roundRect">
            <a:avLst>
              <a:gd name="adj" fmla="val 7619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25" name="Shape 18 r5"/>
          <p:cNvSpPr/>
          <p:nvPr/>
        </p:nvSpPr>
        <p:spPr>
          <a:xfrm>
            <a:off x="914400" y="5596128"/>
            <a:ext cx="438912" cy="438912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26" name="Text 19 r5"/>
          <p:cNvSpPr/>
          <p:nvPr/>
        </p:nvSpPr>
        <p:spPr>
          <a:xfrm>
            <a:off x="914400" y="55961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7" name="Text 20 r5"/>
          <p:cNvSpPr/>
          <p:nvPr/>
        </p:nvSpPr>
        <p:spPr>
          <a:xfrm>
            <a:off x="1600200" y="5468112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 question and the SQL it produced</a:t>
            </a:r>
            <a:endParaRPr lang="en-US" sz="1600" dirty="0"/>
          </a:p>
        </p:txBody>
      </p:sp>
      <p:sp>
        <p:nvSpPr>
          <p:cNvPr id="28" name="Text 21 r5"/>
          <p:cNvSpPr/>
          <p:nvPr/>
        </p:nvSpPr>
        <p:spPr>
          <a:xfrm>
            <a:off x="1600200" y="5815584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Ask on failures it actually had, rather than ones we invented.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148840"/>
            <a:ext cx="10881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guarantees hold because of how the system is built —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append-only ledger the database itself protects,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model that can only produce something checkable —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because everyone remembered to be careful.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52578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Rx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53312" y="52578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Pharmacy Inventory Management</dc:title>
  <dc:subject>PptxGenJS Presentation</dc:subject>
  <dc:creator>Pharmacy Inventory team</dc:creator>
  <cp:lastModifiedBy>Pharmacy Inventory team</cp:lastModifiedBy>
  <cp:revision>1</cp:revision>
  <dcterms:created xsi:type="dcterms:W3CDTF">2026-08-05T05:52:02Z</dcterms:created>
  <dcterms:modified xsi:type="dcterms:W3CDTF">2026-08-05T05:52:02Z</dcterms:modified>
</cp:coreProperties>
</file>